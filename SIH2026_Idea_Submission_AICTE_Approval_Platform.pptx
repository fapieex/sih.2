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60000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SIH26262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Integrated AICTE Approval Workflow Automation, Compliance Monitoring and Alert Management System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ID- [Your Team ID]</a:t>
            </a:r>
          </a:p>
          <a:p>
            <a:pPr marL="285750" indent="-28575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7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portal): [Your Team Name]</a:t>
            </a:r>
            <a:endParaRPr lang="en-IN" sz="17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AICTE APPROVAL &amp; COMPLIANCE PLATFORM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09600" y="1250000"/>
            <a:ext cx="10972800" cy="50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Unified platform auto-routes applications through APH stages (Scrutiny, EVC, SAC/SHC) in any prescribed combination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Real-time dashboards: stage-wise pendency, ageing and bottlenecks across Regions, officers and committees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Configurable alert &amp; escalation engine: reminders → Regional Officer → Bureau for anything overdue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Compliance built in: undertakings and lease / document validity tracked with the case</a:t>
            </a:r>
            <a:endParaRPr lang="en-US" sz="13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Workflow engine auto-moves each case to the next stage with role-based authorisation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Return / revert / clarification cycles with mandatory recorded reasons; officer assignment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EVC queue with visit scheduling, due-date reminders and auto-escalation of delayed visits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Admin-configurable rules — timelines, reminders, escalation triggers — audit-logged</a:t>
            </a:r>
            <a:endParaRPr lang="en-US" sz="13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Automated alerts &amp; escalation replace manual registers, phone calls and follow-up e-mails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Single source of truth with human oversight — decisions stay with the competent authority</a:t>
            </a:r>
            <a:endParaRPr lang="en-US" sz="13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Escalation ladder derived from days-overdue (L1 stage owner → L2 Regional → L3 Bureau), per entity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One screen unites three domains: approval cases + undertakings + document validity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API-first design plugs over existing AICTE systems (SSO, data import) where feasible</a:t>
            </a:r>
            <a:endParaRPr lang="en-US" sz="13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50000"/>
            <a:ext cx="10972800" cy="32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Frontend: React 18 + Vite — role-based dashboards, charts, responsive UI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Backend: Node.js + Express REST API with token auth and server-side role scoping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Database: SQLite for the portable prototype → PostgreSQL for production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Notifications: scheduler (60 s cycle) with dedupe keys; e-mail / SMS gateways via adapters</a:t>
            </a:r>
            <a:endParaRPr lang="en-US" sz="13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Flow: Application → route engine (Only Scrutiny | Scrutiny+EVC | EVC+SAC/SHC | Only EVC) → auto-advance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Every stage action (complete / return / revert / assign) is role-authorised and audit-logged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Deadline loop: reminder ≤ 7 d before due → CRITICAL overdue → escalate L2 after 7 d → L3 after 15 d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Compliance loop: due date → notify institution → submit evidence online → officer verify → closure logged</a:t>
            </a:r>
            <a:endParaRPr lang="en-US" sz="13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Working prototype: 46 seeded cases, 5 roles, 66 automated API tests — every module live in the browser</a:t>
            </a:r>
            <a:endParaRPr lang="en-US" sz="13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[Your 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01" name="FC label 9001"/>
          <p:cNvSpPr txBox="1"/>
          <p:nvPr/>
        </p:nvSpPr>
        <p:spPr>
          <a:xfrm>
            <a:off x="609600" y="4300000"/>
            <a:ext cx="6000000" cy="3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 b="1">
                <a:solidFill>
                  <a:srgbClr val="1F3864"/>
                </a:solidFill>
                <a:latin typeface="Calibri"/>
              </a:rPr>
              <a:t>Approval pipeline — automatic routing &amp; stage auto-advance</a:t>
            </a:r>
          </a:p>
        </p:txBody>
      </p:sp>
      <p:sp>
        <p:nvSpPr>
          <p:cNvPr id="9002" name="FC node 9002"/>
          <p:cNvSpPr/>
          <p:nvPr/>
        </p:nvSpPr>
        <p:spPr>
          <a:xfrm>
            <a:off x="609600" y="4680000"/>
            <a:ext cx="1500000" cy="62000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Application
received</a:t>
            </a:r>
          </a:p>
        </p:txBody>
      </p:sp>
      <p:sp>
        <p:nvSpPr>
          <p:cNvPr id="9003" name="FC arrow 9003"/>
          <p:cNvSpPr/>
          <p:nvPr/>
        </p:nvSpPr>
        <p:spPr>
          <a:xfrm>
            <a:off x="2199600" y="4840000"/>
            <a:ext cx="2150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4" name="FC node 9004"/>
          <p:cNvSpPr/>
          <p:nvPr/>
        </p:nvSpPr>
        <p:spPr>
          <a:xfrm>
            <a:off x="2504600" y="4680000"/>
            <a:ext cx="1500000" cy="62000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Route engine
(APH combo)</a:t>
            </a:r>
          </a:p>
        </p:txBody>
      </p:sp>
      <p:sp>
        <p:nvSpPr>
          <p:cNvPr id="9005" name="FC arrow 9005"/>
          <p:cNvSpPr/>
          <p:nvPr/>
        </p:nvSpPr>
        <p:spPr>
          <a:xfrm>
            <a:off x="4094600" y="4840000"/>
            <a:ext cx="2150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6" name="FC node 9006"/>
          <p:cNvSpPr/>
          <p:nvPr/>
        </p:nvSpPr>
        <p:spPr>
          <a:xfrm>
            <a:off x="4399600" y="4680000"/>
            <a:ext cx="1500000" cy="6200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Scrutiny</a:t>
            </a:r>
          </a:p>
        </p:txBody>
      </p:sp>
      <p:sp>
        <p:nvSpPr>
          <p:cNvPr id="9007" name="FC arrow 9007"/>
          <p:cNvSpPr/>
          <p:nvPr/>
        </p:nvSpPr>
        <p:spPr>
          <a:xfrm>
            <a:off x="5989600" y="4840000"/>
            <a:ext cx="2150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8" name="FC node 9008"/>
          <p:cNvSpPr/>
          <p:nvPr/>
        </p:nvSpPr>
        <p:spPr>
          <a:xfrm>
            <a:off x="6294600" y="4680000"/>
            <a:ext cx="1500000" cy="6200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EVC visit</a:t>
            </a:r>
          </a:p>
        </p:txBody>
      </p:sp>
      <p:sp>
        <p:nvSpPr>
          <p:cNvPr id="9009" name="FC arrow 9009"/>
          <p:cNvSpPr/>
          <p:nvPr/>
        </p:nvSpPr>
        <p:spPr>
          <a:xfrm>
            <a:off x="7884600" y="4840000"/>
            <a:ext cx="2150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0" name="FC node 9010"/>
          <p:cNvSpPr/>
          <p:nvPr/>
        </p:nvSpPr>
        <p:spPr>
          <a:xfrm>
            <a:off x="8189600" y="4680000"/>
            <a:ext cx="1500000" cy="6200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SAC / SHC</a:t>
            </a:r>
          </a:p>
        </p:txBody>
      </p:sp>
      <p:sp>
        <p:nvSpPr>
          <p:cNvPr id="9011" name="FC arrow 9011"/>
          <p:cNvSpPr/>
          <p:nvPr/>
        </p:nvSpPr>
        <p:spPr>
          <a:xfrm>
            <a:off x="9779600" y="4840000"/>
            <a:ext cx="215000" cy="30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2" name="FC node 9012"/>
          <p:cNvSpPr/>
          <p:nvPr/>
        </p:nvSpPr>
        <p:spPr>
          <a:xfrm>
            <a:off x="10084600" y="4680000"/>
            <a:ext cx="1500000" cy="620000"/>
          </a:xfrm>
          <a:prstGeom prst="roundRect">
            <a:avLst/>
          </a:prstGeom>
          <a:solidFill>
            <a:srgbClr val="1E8E4E"/>
          </a:solidFill>
          <a:ln w="12700">
            <a:solidFill>
              <a:srgbClr val="1E8E4E"/>
            </a:solidFill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  <a:latin typeface="Calibri"/>
              </a:rPr>
              <a:t>Approval +
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50000"/>
            <a:ext cx="10972800" cy="2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Pure software on modest hardware; one server can serve all five Regions</a:t>
            </a:r>
            <a:endParaRPr lang="en-US" sz="14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Incremental rollout: pilot one Region, then scale — no parallel systems needed</a:t>
            </a:r>
            <a:endParaRPr lang="en-US" sz="14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Integrates with existing AICTE systems via APIs wherever feasible</a:t>
            </a:r>
            <a:endParaRPr lang="en-US" sz="1400" dirty="0"/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Legacy data migration and record quality</a:t>
            </a:r>
            <a:endParaRPr lang="en-US" sz="14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Adoption by offices; trust in automated escalation</a:t>
            </a:r>
            <a:endParaRPr lang="en-US" sz="14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APH rule changes each year; notification deliverability</a:t>
            </a:r>
            <a:endParaRPr lang="en-US" sz="1400" dirty="0"/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2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Bulk import with validation dashboards; read-only legacy phase first</a:t>
            </a:r>
            <a:endParaRPr lang="en-US" sz="14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Role-based training, pilot Region and a transparent audit trail build trust</a:t>
            </a:r>
            <a:endParaRPr lang="en-US" sz="14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Rules are configuration, not code — updated in minutes; multi-channel notifications with retry</a:t>
            </a:r>
            <a:endParaRPr lang="en-US" sz="14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013" name="FC label 9013"/>
          <p:cNvSpPr txBox="1"/>
          <p:nvPr/>
        </p:nvSpPr>
        <p:spPr>
          <a:xfrm>
            <a:off x="609600" y="4370000"/>
            <a:ext cx="7000000" cy="32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-US" sz="1200" b="1">
                <a:solidFill>
                  <a:srgbClr val="1F3864"/>
                </a:solidFill>
                <a:latin typeface="Calibri"/>
              </a:rPr>
              <a:t>Deadline → alert → escalation ladder (auto, configurable)</a:t>
            </a:r>
          </a:p>
        </p:txBody>
      </p:sp>
      <p:sp>
        <p:nvSpPr>
          <p:cNvPr id="9014" name="FC node 9014"/>
          <p:cNvSpPr/>
          <p:nvPr/>
        </p:nvSpPr>
        <p:spPr>
          <a:xfrm>
            <a:off x="609600" y="4750000"/>
            <a:ext cx="2050000" cy="60000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Timeline
running</a:t>
            </a:r>
          </a:p>
        </p:txBody>
      </p:sp>
      <p:sp>
        <p:nvSpPr>
          <p:cNvPr id="9015" name="FC arrow 9015"/>
          <p:cNvSpPr/>
          <p:nvPr/>
        </p:nvSpPr>
        <p:spPr>
          <a:xfrm>
            <a:off x="2739600" y="4910000"/>
            <a:ext cx="36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6" name="FC node 9016"/>
          <p:cNvSpPr/>
          <p:nvPr/>
        </p:nvSpPr>
        <p:spPr>
          <a:xfrm>
            <a:off x="3179600" y="4750000"/>
            <a:ext cx="2050000" cy="600000"/>
          </a:xfrm>
          <a:prstGeom prst="roundRect">
            <a:avLst/>
          </a:prstGeom>
          <a:solidFill>
            <a:srgbClr val="E07B00"/>
          </a:solidFill>
          <a:ln w="12700">
            <a:solidFill>
              <a:srgbClr val="E07B00"/>
            </a:solidFill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Reminder
(≤7 d left)</a:t>
            </a:r>
          </a:p>
        </p:txBody>
      </p:sp>
      <p:sp>
        <p:nvSpPr>
          <p:cNvPr id="9017" name="FC arrow 9017"/>
          <p:cNvSpPr/>
          <p:nvPr/>
        </p:nvSpPr>
        <p:spPr>
          <a:xfrm>
            <a:off x="5309600" y="4910000"/>
            <a:ext cx="36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8" name="FC node 9018"/>
          <p:cNvSpPr/>
          <p:nvPr/>
        </p:nvSpPr>
        <p:spPr>
          <a:xfrm>
            <a:off x="5749600" y="4750000"/>
            <a:ext cx="2050000" cy="6000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Overdue →
CRITICAL</a:t>
            </a:r>
          </a:p>
        </p:txBody>
      </p:sp>
      <p:sp>
        <p:nvSpPr>
          <p:cNvPr id="9019" name="FC arrow 9019"/>
          <p:cNvSpPr/>
          <p:nvPr/>
        </p:nvSpPr>
        <p:spPr>
          <a:xfrm>
            <a:off x="7879600" y="4910000"/>
            <a:ext cx="36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0" name="FC node 9020"/>
          <p:cNvSpPr/>
          <p:nvPr/>
        </p:nvSpPr>
        <p:spPr>
          <a:xfrm>
            <a:off x="8319600" y="4750000"/>
            <a:ext cx="2050000" cy="600000"/>
          </a:xfrm>
          <a:prstGeom prst="roundRect">
            <a:avLst/>
          </a:prstGeom>
          <a:solidFill>
            <a:srgbClr val="64748B"/>
          </a:solidFill>
          <a:ln w="12700">
            <a:solidFill>
              <a:srgbClr val="64748B"/>
            </a:solidFill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Alert + audit
entry</a:t>
            </a:r>
          </a:p>
        </p:txBody>
      </p:sp>
      <p:sp>
        <p:nvSpPr>
          <p:cNvPr id="9021" name="FC arrow 9021"/>
          <p:cNvSpPr/>
          <p:nvPr/>
        </p:nvSpPr>
        <p:spPr>
          <a:xfrm>
            <a:off x="9204600" y="5410000"/>
            <a:ext cx="280000" cy="180000"/>
          </a:xfrm>
          <a:prstGeom prst="down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2" name="FC node 9022"/>
          <p:cNvSpPr/>
          <p:nvPr/>
        </p:nvSpPr>
        <p:spPr>
          <a:xfrm>
            <a:off x="609600" y="5630000"/>
            <a:ext cx="2050000" cy="6000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2E75B6"/>
            </a:solidFill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L1 · Stage owner</a:t>
            </a:r>
          </a:p>
        </p:txBody>
      </p:sp>
      <p:sp>
        <p:nvSpPr>
          <p:cNvPr id="9023" name="FC arrow 9023"/>
          <p:cNvSpPr/>
          <p:nvPr/>
        </p:nvSpPr>
        <p:spPr>
          <a:xfrm>
            <a:off x="2739600" y="5790000"/>
            <a:ext cx="36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4" name="FC node 9024"/>
          <p:cNvSpPr/>
          <p:nvPr/>
        </p:nvSpPr>
        <p:spPr>
          <a:xfrm>
            <a:off x="3179600" y="5630000"/>
            <a:ext cx="2050000" cy="600000"/>
          </a:xfrm>
          <a:prstGeom prst="roundRect">
            <a:avLst/>
          </a:prstGeom>
          <a:solidFill>
            <a:srgbClr val="E07B00"/>
          </a:solidFill>
          <a:ln w="12700">
            <a:solidFill>
              <a:srgbClr val="E07B00"/>
            </a:solidFill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L2 · Regional (&gt;7 d)</a:t>
            </a:r>
          </a:p>
        </p:txBody>
      </p:sp>
      <p:sp>
        <p:nvSpPr>
          <p:cNvPr id="9025" name="FC arrow 9025"/>
          <p:cNvSpPr/>
          <p:nvPr/>
        </p:nvSpPr>
        <p:spPr>
          <a:xfrm>
            <a:off x="5309600" y="5790000"/>
            <a:ext cx="36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6" name="FC node 9026"/>
          <p:cNvSpPr/>
          <p:nvPr/>
        </p:nvSpPr>
        <p:spPr>
          <a:xfrm>
            <a:off x="5749600" y="5630000"/>
            <a:ext cx="2050000" cy="600000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L3 · Bureau (&gt;15 d)</a:t>
            </a:r>
          </a:p>
        </p:txBody>
      </p:sp>
      <p:sp>
        <p:nvSpPr>
          <p:cNvPr id="9027" name="FC arrow 9027"/>
          <p:cNvSpPr/>
          <p:nvPr/>
        </p:nvSpPr>
        <p:spPr>
          <a:xfrm>
            <a:off x="7879600" y="5790000"/>
            <a:ext cx="360000" cy="280000"/>
          </a:xfrm>
          <a:prstGeom prst="rightArrow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8" name="FC node 9028"/>
          <p:cNvSpPr/>
          <p:nvPr/>
        </p:nvSpPr>
        <p:spPr>
          <a:xfrm>
            <a:off x="8319600" y="5630000"/>
            <a:ext cx="2050000" cy="600000"/>
          </a:xfrm>
          <a:prstGeom prst="roundRect">
            <a:avLst/>
          </a:prstGeom>
          <a:solidFill>
            <a:srgbClr val="1E8E4E"/>
          </a:solidFill>
          <a:ln w="12700">
            <a:solidFill>
              <a:srgbClr val="1E8E4E"/>
            </a:solidFill>
          </a:ln>
        </p:spPr>
        <p:txBody>
          <a:bodyPr anchor="ctr"/>
          <a:lstStyle/>
          <a:p>
            <a:pPr algn="ctr"/>
            <a:r>
              <a:rPr lang="en-US" sz="1000" b="1">
                <a:solidFill>
                  <a:srgbClr val="FFFFFF"/>
                </a:solidFill>
                <a:latin typeface="Calibri"/>
              </a:rPr>
              <a:t>Case disposed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50000"/>
            <a:ext cx="10972800" cy="4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Institutions: single window for applications, submissions, alerts and compliance status</a:t>
            </a:r>
            <a:endParaRPr lang="en-US" sz="15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AICTE officers &amp; committees: enforced stage timelines, workload visibility, no missed deadlines</a:t>
            </a:r>
            <a:endParaRPr lang="en-US" sz="15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Citizens &amp; regulators: faster, transparent and accountable approval processing</a:t>
            </a:r>
            <a:endParaRPr lang="en-US" sz="1500" dirty="0"/>
          </a:p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Eliminates repetitive manual work and follow-up — saves officer hours every week</a:t>
            </a:r>
            <a:endParaRPr lang="en-US" sz="15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Accountability: complete digital audit trail of movement, decisions and escalations</a:t>
            </a:r>
            <a:endParaRPr lang="en-US" sz="15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Data-driven governance: region-wise pendency and bottleneck analytics for management review</a:t>
            </a:r>
            <a:endParaRPr lang="en-US" sz="15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Fewer missed deadlines and expired documents — stronger approval compliance</a:t>
            </a:r>
            <a:endParaRPr lang="en-US" sz="15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[Your 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350000"/>
            <a:ext cx="10972800" cy="46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2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AICTE Approval Process Handbook (APH) — stages, route combinations and prescribed timelines</a:t>
            </a:r>
            <a:endParaRPr lang="en-US" sz="15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AICTE regulations on grant / extension / renewal of approval of technical institutions</a:t>
            </a:r>
            <a:endParaRPr lang="en-US" sz="15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SIH 2026 problem statement SIH26262 — official portal: sih.gov.in/sih2026PS</a:t>
            </a:r>
            <a:endParaRPr lang="en-US" sz="1500" dirty="0"/>
          </a:p>
          <a:p>
            <a:pPr marL="685800" marR="0" lvl="1" indent="-342900" algn="l" defTabSz="457200" rtl="0" eaLnBrk="1" fontAlgn="base" latinLnBrk="0" hangingPunct="1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Tx/>
              <a:buSzPct val="90000"/>
              <a:buFont typeface="Arial" panose="020B0604020202020204" pitchFamily="34" charset="0"/>
              <a:buChar char="▸"/>
              <a:tabLst/>
              <a:defRPr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cs typeface="Arial" pitchFamily="34" charset="0"/>
              </a:rPr>
              <a:t>Working prototype (this submission): Express + React + SQLite — alert engine, dashboards, audit trail</a:t>
            </a:r>
            <a:endParaRPr lang="en-US" sz="15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[Your 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